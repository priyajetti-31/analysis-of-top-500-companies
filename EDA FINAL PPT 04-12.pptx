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1" r:id="rId2"/>
    <p:sldId id="272" r:id="rId3"/>
    <p:sldId id="257" r:id="rId4"/>
    <p:sldId id="259" r:id="rId5"/>
    <p:sldId id="273" r:id="rId6"/>
    <p:sldId id="288" r:id="rId7"/>
    <p:sldId id="289" r:id="rId8"/>
    <p:sldId id="261" r:id="rId9"/>
    <p:sldId id="284" r:id="rId10"/>
    <p:sldId id="291" r:id="rId11"/>
    <p:sldId id="290" r:id="rId12"/>
    <p:sldId id="263" r:id="rId13"/>
    <p:sldId id="276" r:id="rId14"/>
    <p:sldId id="277" r:id="rId15"/>
    <p:sldId id="278" r:id="rId16"/>
    <p:sldId id="279" r:id="rId17"/>
    <p:sldId id="264" r:id="rId18"/>
    <p:sldId id="281" r:id="rId19"/>
    <p:sldId id="282" r:id="rId20"/>
    <p:sldId id="283" r:id="rId21"/>
    <p:sldId id="266" r:id="rId22"/>
    <p:sldId id="285" r:id="rId23"/>
    <p:sldId id="286" r:id="rId24"/>
    <p:sldId id="268" r:id="rId25"/>
    <p:sldId id="287" r:id="rId26"/>
    <p:sldId id="269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14001-C16F-4633-99DC-843CE81FCA7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0E737-258C-4B81-A0CB-9CD627439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3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0E737-258C-4B81-A0CB-9CD6274391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1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0E737-258C-4B81-A0CB-9CD6274391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79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mages/search/thank%20you%20for%20your%20participation/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6CE3EA1C-C5E2-794C-31F9-BA01E9EB204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69211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3613D3-20F0-3440-6211-F8830B4E3317}"/>
              </a:ext>
            </a:extLst>
          </p:cNvPr>
          <p:cNvSpPr/>
          <p:nvPr/>
        </p:nvSpPr>
        <p:spPr>
          <a:xfrm>
            <a:off x="339865" y="3689968"/>
            <a:ext cx="8629963" cy="10802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PROJECT ON Analysis OF TOP 500 COMPANIES(INDIA)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4ABF83-E7A6-39CD-5FEB-68F77798F440}"/>
              </a:ext>
            </a:extLst>
          </p:cNvPr>
          <p:cNvSpPr/>
          <p:nvPr/>
        </p:nvSpPr>
        <p:spPr>
          <a:xfrm>
            <a:off x="4774303" y="5458078"/>
            <a:ext cx="3653553" cy="10802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dirty="0">
                <a:solidFill>
                  <a:schemeClr val="tx1"/>
                </a:solidFill>
                <a:latin typeface="Algerian" panose="04020705040A02060702" pitchFamily="82" charset="0"/>
              </a:rPr>
              <a:t>:- </a:t>
            </a:r>
          </a:p>
          <a:p>
            <a:pPr algn="ctr"/>
            <a:r>
              <a:rPr lang="en-IN" sz="2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J.Varshini Priya</a:t>
            </a:r>
          </a:p>
          <a:p>
            <a:pPr algn="ctr"/>
            <a:r>
              <a:rPr lang="en-IN" sz="2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R.Harika </a:t>
            </a:r>
          </a:p>
        </p:txBody>
      </p:sp>
    </p:spTree>
    <p:extLst>
      <p:ext uri="{BB962C8B-B14F-4D97-AF65-F5344CB8AC3E}">
        <p14:creationId xmlns:p14="http://schemas.microsoft.com/office/powerpoint/2010/main" val="18908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5644-6E0B-5C13-DDEC-F4C907A1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07" y="-95973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AGENDA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497B13-86CC-EC7B-A636-9C396C3B5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47027"/>
            <a:ext cx="812845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 (Python, Pandas, Matplotlib, Seaborn)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Arial" panose="020B0604020202020204" pitchFamily="34" charset="0"/>
              </a:rPr>
              <a:t>Exploratory Data Analysis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Arial" panose="020B0604020202020204" pitchFamily="34" charset="0"/>
              </a:rPr>
              <a:t>Data Cleaning &amp; Preprocessing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 &amp;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8541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Problem Statement</a:t>
            </a:r>
            <a:endParaRPr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271" y="1417638"/>
            <a:ext cx="7884244" cy="1859107"/>
          </a:xfrm>
        </p:spPr>
        <p:txBody>
          <a:bodyPr wrap="square">
            <a:normAutofit/>
          </a:bodyPr>
          <a:lstStyle/>
          <a:p>
            <a:pPr algn="just"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There is limited clarity on how India’s top companies differ in employee satisfaction, salaries, benefits, and hiring patterns across industries and locations.</a:t>
            </a:r>
          </a:p>
          <a:p>
            <a:pPr algn="just"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Without proper analysis, it becomes difficult to identify trends, compare sectors, and derive insights that help job seekers, employers, and analysts to make informed decisions.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DECDB-83C0-427F-68EC-A056438CC648}"/>
              </a:ext>
            </a:extLst>
          </p:cNvPr>
          <p:cNvSpPr txBox="1"/>
          <p:nvPr/>
        </p:nvSpPr>
        <p:spPr>
          <a:xfrm>
            <a:off x="1613522" y="345107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</a:rPr>
              <a:t>OBJECTIVES</a:t>
            </a:r>
            <a:endParaRPr lang="en-IN" sz="4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0815CB1-1C38-B5F5-F7D6-14769EBEB0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826538" y="4327334"/>
            <a:ext cx="4907865" cy="9248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3119F9E-6034-2CFF-02AC-D3AD5B7E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88" y="616221"/>
            <a:ext cx="459834" cy="459834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1F13008-EB81-E893-11CB-74537E740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810" y="3639561"/>
            <a:ext cx="488611" cy="488611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FECC75B-6F50-DF08-C785-E5435C95E091}"/>
              </a:ext>
            </a:extLst>
          </p:cNvPr>
          <p:cNvSpPr txBox="1">
            <a:spLocks/>
          </p:cNvSpPr>
          <p:nvPr/>
        </p:nvSpPr>
        <p:spPr>
          <a:xfrm>
            <a:off x="5536305" y="6356350"/>
            <a:ext cx="987552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13B50D-4D6B-A89D-BCC6-58F200B96011}"/>
              </a:ext>
            </a:extLst>
          </p:cNvPr>
          <p:cNvSpPr txBox="1"/>
          <p:nvPr/>
        </p:nvSpPr>
        <p:spPr>
          <a:xfrm>
            <a:off x="639271" y="4327334"/>
            <a:ext cx="78842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To perform detailed exploratory data analysis (EDA) on the top 500 companies.</a:t>
            </a:r>
            <a:br>
              <a:rPr lang="en-US" dirty="0"/>
            </a:b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To identify patterns and trends among key variables.</a:t>
            </a:r>
          </a:p>
          <a:p>
            <a:pPr algn="just">
              <a:defRPr sz="1800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To find the most influential features that affect the overall company    performance and employee experience.</a:t>
            </a:r>
          </a:p>
          <a:p>
            <a:pPr algn="just">
              <a:defRPr sz="1800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To visualize relationships and correlations using Python libraries.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latin typeface="Algerian" panose="04020705040A02060702" pitchFamily="82" charset="0"/>
              </a:rPr>
              <a:t>Tools Used for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74734"/>
            <a:ext cx="8686800" cy="3708176"/>
          </a:xfrm>
        </p:spPr>
        <p:txBody>
          <a:bodyPr wrap="square"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800" dirty="0"/>
              <a:t>Python (3.12)+ Jupiter Notebook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b="1" dirty="0"/>
              <a:t>Python libraries : </a:t>
            </a:r>
            <a:r>
              <a:rPr lang="en-US" sz="2800" dirty="0"/>
              <a:t>Pandas ,NumPy, Matplotlib, Seaborn.</a:t>
            </a:r>
          </a:p>
          <a:p>
            <a:pPr algn="just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For data analysis 	: </a:t>
            </a:r>
            <a:r>
              <a:rPr lang="en-US" sz="2800" dirty="0"/>
              <a:t>Pandas , NumPy.</a:t>
            </a:r>
          </a:p>
          <a:p>
            <a:pPr marL="0" indent="0">
              <a:buNone/>
            </a:pPr>
            <a:endParaRPr lang="en-US" sz="2800" dirty="0"/>
          </a:p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 b="1" dirty="0"/>
              <a:t>For data visualization   :   </a:t>
            </a:r>
            <a:r>
              <a:rPr lang="en-US" sz="2800" dirty="0"/>
              <a:t>Matplotlib, Seaborn.</a:t>
            </a:r>
          </a:p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2800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928C1FF-0F8E-3B71-4F2A-615A75F5F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99251" y="587937"/>
            <a:ext cx="651524" cy="651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C671F20-F115-2AA8-8459-B31D31D5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807" y="50751"/>
            <a:ext cx="8421688" cy="89458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DATASET OVERVIEW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9F1FDE6-FD84-B12B-BEAB-32467A476B26}"/>
              </a:ext>
            </a:extLst>
          </p:cNvPr>
          <p:cNvSpPr txBox="1">
            <a:spLocks/>
          </p:cNvSpPr>
          <p:nvPr/>
        </p:nvSpPr>
        <p:spPr>
          <a:xfrm>
            <a:off x="1138336" y="945331"/>
            <a:ext cx="4031945" cy="552167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DATASET SHAPE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3BEFDD4-3CD5-636F-D9A3-1A67AC49D876}"/>
              </a:ext>
            </a:extLst>
          </p:cNvPr>
          <p:cNvSpPr txBox="1">
            <a:spLocks/>
          </p:cNvSpPr>
          <p:nvPr/>
        </p:nvSpPr>
        <p:spPr>
          <a:xfrm>
            <a:off x="1308071" y="1497499"/>
            <a:ext cx="4031030" cy="41168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df.shape </a:t>
            </a:r>
            <a:r>
              <a:rPr lang="en-IN" dirty="0"/>
              <a:t>= 500rows × 8 columns</a:t>
            </a:r>
            <a:endParaRPr lang="en-US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083B334-FFDB-E66C-E627-B4258EB2A72C}"/>
              </a:ext>
            </a:extLst>
          </p:cNvPr>
          <p:cNvSpPr txBox="1">
            <a:spLocks/>
          </p:cNvSpPr>
          <p:nvPr/>
        </p:nvSpPr>
        <p:spPr>
          <a:xfrm>
            <a:off x="1167105" y="2151298"/>
            <a:ext cx="3665405" cy="646331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KEY COLUMNS:-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D454B35-59A8-DB1A-34B7-93A6BE7FB1A2}"/>
              </a:ext>
            </a:extLst>
          </p:cNvPr>
          <p:cNvSpPr txBox="1">
            <a:spLocks/>
          </p:cNvSpPr>
          <p:nvPr/>
        </p:nvSpPr>
        <p:spPr>
          <a:xfrm>
            <a:off x="1167105" y="2667000"/>
            <a:ext cx="4879457" cy="3243349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 </a:t>
            </a:r>
            <a:r>
              <a:rPr lang="en-US" sz="2000" b="1" dirty="0"/>
              <a:t>df.columns()=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Company name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Ratings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Services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Location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Salaries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Interviews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Jobs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Benefits</a:t>
            </a:r>
          </a:p>
          <a:p>
            <a:pPr lvl="1" algn="just"/>
            <a:br>
              <a:rPr lang="en-US" sz="2000" dirty="0"/>
            </a:br>
            <a:endParaRPr lang="en-US" sz="2000" dirty="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9D8A872-A4F1-4D8D-E0F6-CD8C0E8B4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34" y="1019500"/>
            <a:ext cx="598380" cy="403828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FB3AD15-998D-F0E1-B70B-06B742E50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05" y="2185268"/>
            <a:ext cx="489797" cy="330549"/>
          </a:xfrm>
          <a:prstGeom prst="rect">
            <a:avLst/>
          </a:prstGeom>
        </p:spPr>
      </p:pic>
      <p:sp>
        <p:nvSpPr>
          <p:cNvPr id="25" name="Slide Number Placeholder 7">
            <a:extLst>
              <a:ext uri="{FF2B5EF4-FFF2-40B4-BE49-F238E27FC236}">
                <a16:creationId xmlns:a16="http://schemas.microsoft.com/office/drawing/2014/main" id="{E9C04495-7EED-E70E-5FFF-B59799ECE85B}"/>
              </a:ext>
            </a:extLst>
          </p:cNvPr>
          <p:cNvSpPr txBox="1">
            <a:spLocks/>
          </p:cNvSpPr>
          <p:nvPr/>
        </p:nvSpPr>
        <p:spPr>
          <a:xfrm>
            <a:off x="6132512" y="6399178"/>
            <a:ext cx="2743200" cy="246411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2FBD24-3F9C-B987-C978-78133426A74A}"/>
              </a:ext>
            </a:extLst>
          </p:cNvPr>
          <p:cNvSpPr txBox="1"/>
          <p:nvPr/>
        </p:nvSpPr>
        <p:spPr>
          <a:xfrm>
            <a:off x="1190215" y="5743356"/>
            <a:ext cx="7233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Dataset Type</a:t>
            </a:r>
            <a:r>
              <a:rPr lang="en-US" dirty="0"/>
              <a:t>: Structured tabular data containing company-level information on ratings, salaries, benefits, jobs, interviews, services, and locations, details.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5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build="p"/>
      <p:bldP spid="19" grpId="0" build="p"/>
      <p:bldP spid="20" grpId="0" build="p"/>
      <p:bldP spid="2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61B2-59B9-1F0C-419E-2171F978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7733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FRAME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58667B-5F64-3216-02DE-7694A15A6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32378"/>
            <a:ext cx="8229600" cy="4761545"/>
          </a:xfrm>
        </p:spPr>
      </p:pic>
    </p:spTree>
    <p:extLst>
      <p:ext uri="{BB962C8B-B14F-4D97-AF65-F5344CB8AC3E}">
        <p14:creationId xmlns:p14="http://schemas.microsoft.com/office/powerpoint/2010/main" val="171630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CA6A3B-7F4C-62D1-24FC-EE3D10B172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4800" y="522514"/>
            <a:ext cx="4038600" cy="551905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16626F-A411-2CDF-BBA2-26CB9E4005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00602" y="446314"/>
            <a:ext cx="3614055" cy="5595257"/>
          </a:xfrm>
        </p:spPr>
      </p:pic>
    </p:spTree>
    <p:extLst>
      <p:ext uri="{BB962C8B-B14F-4D97-AF65-F5344CB8AC3E}">
        <p14:creationId xmlns:p14="http://schemas.microsoft.com/office/powerpoint/2010/main" val="132143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  <a:latin typeface="+mn-lt"/>
              </a:rPr>
              <a:t>Data Cleaning</a:t>
            </a:r>
            <a:r>
              <a:rPr lang="en-US" altLang="en-US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&amp; Preprocessing</a:t>
            </a:r>
            <a:endParaRPr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649" y="1567543"/>
            <a:ext cx="7908865" cy="5015819"/>
          </a:xfrm>
        </p:spPr>
        <p:txBody>
          <a:bodyPr wrap="square">
            <a:norm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The dataset was checked for missing values and duplicates. We identified null values and replaced them with suitable substitutes, ensuring data completeness.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Duplicate records were not present, ensuring data accuracy and integrity.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Outliers were detected using box plots and statistical methods for numeric features () to understand data distribution and identify extreme values.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Data types were verified and corrected where necessary for proper analysis.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BE342C6-F181-F8B3-A4B9-9F9A62D90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7" y="620210"/>
            <a:ext cx="504612" cy="504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30F5-1CDC-11FE-462F-56A1AF89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9505"/>
          </a:xfrm>
        </p:spPr>
        <p:txBody>
          <a:bodyPr>
            <a:normAutofit fontScale="90000"/>
          </a:bodyPr>
          <a:lstStyle/>
          <a:p>
            <a:r>
              <a:rPr lang="en-US" dirty="0"/>
              <a:t>CLEANED DATA FRAME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131C22-F627-56EA-B4CD-9F2A3366D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71883"/>
            <a:ext cx="8229600" cy="4517460"/>
          </a:xfrm>
        </p:spPr>
      </p:pic>
    </p:spTree>
    <p:extLst>
      <p:ext uri="{BB962C8B-B14F-4D97-AF65-F5344CB8AC3E}">
        <p14:creationId xmlns:p14="http://schemas.microsoft.com/office/powerpoint/2010/main" val="375298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CF801C-1100-46F2-6590-6B0FC83B84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359228"/>
            <a:ext cx="4267200" cy="592182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EC204E-C517-90BB-0E56-9C4272B418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83846" y="446313"/>
            <a:ext cx="2657846" cy="4789715"/>
          </a:xfrm>
        </p:spPr>
      </p:pic>
    </p:spTree>
    <p:extLst>
      <p:ext uri="{BB962C8B-B14F-4D97-AF65-F5344CB8AC3E}">
        <p14:creationId xmlns:p14="http://schemas.microsoft.com/office/powerpoint/2010/main" val="2492230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EB58E-B98A-2121-EBF3-A23EF158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006182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Univariate Analysis:-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Histograms – </a:t>
            </a:r>
            <a:r>
              <a:rPr lang="en-US" altLang="en-US" sz="2000" dirty="0">
                <a:latin typeface="Arial" panose="020B0604020202020204" pitchFamily="34" charset="0"/>
              </a:rPr>
              <a:t>Ratings, Salaries, Interviews, Jobs, Benefits.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Count Plots – Company name, Services, Location.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Box Plots – Ratings, Salaries, Interviews, Jobs, Benefits.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Pie Charts – Distribution of categorical features.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Bivariate Analysis:-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Scatter Plots – Ratings vs Salaries, Salaries vs Benefits, Interviews vs Jobs.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Box Plots – Salaries by Services, Ratings by Services, Salaries by Location, Benefits by Service, Ratings by Location.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Bar Plots – Average Salaries by Service, Average Ratings by Service, Total Companies by Service.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9AEB2F7-AB7A-2D09-BC38-09F39C4D4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013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5ED0736-BFD9-E025-3E45-EF9D6DBB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1533"/>
          </a:xfrm>
        </p:spPr>
        <p:txBody>
          <a:bodyPr>
            <a:normAutofit fontScale="90000"/>
          </a:bodyPr>
          <a:lstStyle/>
          <a:p>
            <a:r>
              <a:rPr lang="en-US" dirty="0"/>
              <a:t>DATA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380927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43" y="-102653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  <a:latin typeface="Algerian" panose="04020705040A02060702" pitchFamily="82" charset="0"/>
              </a:rPr>
              <a:t>Univariate Analysis</a:t>
            </a:r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:-</a:t>
            </a:r>
            <a:endParaRPr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EB86B-2906-E1EC-4802-1DA7DBDEF62E}"/>
              </a:ext>
            </a:extLst>
          </p:cNvPr>
          <p:cNvSpPr txBox="1"/>
          <p:nvPr/>
        </p:nvSpPr>
        <p:spPr>
          <a:xfrm>
            <a:off x="457200" y="5236418"/>
            <a:ext cx="84037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/>
              <a:t>Insights from BMI Distribution: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The top 10 companies follows a </a:t>
            </a:r>
            <a:r>
              <a:rPr lang="en-US" sz="1600" b="1" dirty="0"/>
              <a:t>uniform distribution representing</a:t>
            </a:r>
            <a:r>
              <a:rPr lang="en-US" sz="1600" dirty="0"/>
              <a:t> these companies have similar</a:t>
            </a:r>
            <a:r>
              <a:rPr lang="en-US" sz="1600" b="1" dirty="0"/>
              <a:t>   </a:t>
            </a:r>
            <a:r>
              <a:rPr lang="en-US" sz="1600" dirty="0"/>
              <a:t>numbers of entries, which allows fair comparison among them.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This shows that while some companies generate a lot of employee data, </a:t>
            </a:r>
            <a:r>
              <a:rPr lang="en-US" sz="1600" b="1" dirty="0"/>
              <a:t>many smaller or less reviewed companies contribute only a few entries each</a:t>
            </a:r>
            <a:r>
              <a:rPr lang="en-US" sz="1600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2C28A5-176E-B301-5E2B-E18F130D7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70858"/>
            <a:ext cx="8229600" cy="4125686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2684AB-4279-94EA-62BE-3F242EDFC2D0}"/>
              </a:ext>
            </a:extLst>
          </p:cNvPr>
          <p:cNvSpPr txBox="1"/>
          <p:nvPr/>
        </p:nvSpPr>
        <p:spPr>
          <a:xfrm>
            <a:off x="0" y="4352602"/>
            <a:ext cx="920873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/>
              <a:t>Insights on services: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The top most service is the </a:t>
            </a:r>
            <a:r>
              <a:rPr lang="en-US" sz="1600" b="1" dirty="0"/>
              <a:t>"IT Services and Consulting" </a:t>
            </a:r>
            <a:r>
              <a:rPr lang="en-US" sz="1600" dirty="0"/>
              <a:t>where most of the companies are preferred.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while sectors like Media, Marketing, Medical equipment are having the least count of services.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Insights on ratings: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Most companies have moderate to high ratings(</a:t>
            </a:r>
            <a:r>
              <a:rPr lang="en-US" sz="1600" b="1" dirty="0"/>
              <a:t>3.7–4.0)</a:t>
            </a:r>
            <a:r>
              <a:rPr lang="en-US" sz="1600" dirty="0"/>
              <a:t>, indicating that most companies have </a:t>
            </a:r>
            <a:r>
              <a:rPr lang="en-US" sz="1600" b="1" dirty="0"/>
              <a:t>satisfactory employee ratings</a:t>
            </a:r>
            <a:r>
              <a:rPr lang="en-US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Ratings follow a </a:t>
            </a:r>
            <a:r>
              <a:rPr lang="en-US" sz="1600" b="1" dirty="0"/>
              <a:t>near-normal distribution with a slight left skew</a:t>
            </a:r>
            <a:r>
              <a:rPr lang="en-US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Few companies have the ratings as outliers that is less than 3 and greater than 4.5.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F45C31-AE17-3A49-830D-90FB5E24BB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3400" y="471249"/>
            <a:ext cx="4038600" cy="3725267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B32ADC6-6E25-D1B9-A598-B0DE170CC5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33258" y="471249"/>
            <a:ext cx="4038600" cy="3725267"/>
          </a:xfrm>
        </p:spPr>
      </p:pic>
    </p:spTree>
    <p:extLst>
      <p:ext uri="{BB962C8B-B14F-4D97-AF65-F5344CB8AC3E}">
        <p14:creationId xmlns:p14="http://schemas.microsoft.com/office/powerpoint/2010/main" val="675660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D9AD67-65E8-AF30-1009-120C5777BBC9}"/>
              </a:ext>
            </a:extLst>
          </p:cNvPr>
          <p:cNvSpPr txBox="1"/>
          <p:nvPr/>
        </p:nvSpPr>
        <p:spPr>
          <a:xfrm>
            <a:off x="631371" y="4606297"/>
            <a:ext cx="79465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Insights:-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Most companies have salaries concentrated in the lower range (close to 0–1 lakh).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distribution is </a:t>
            </a:r>
            <a:r>
              <a:rPr lang="en-US" b="1" dirty="0"/>
              <a:t>right-skewed</a:t>
            </a:r>
            <a:r>
              <a:rPr lang="en-US" dirty="0"/>
              <a:t>, meaning a small number of companies pay significantly higher salaries than the majority.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From the graph, there are multiple high-salary </a:t>
            </a:r>
            <a:r>
              <a:rPr lang="en-US" b="1" dirty="0"/>
              <a:t>outliers</a:t>
            </a:r>
            <a:r>
              <a:rPr lang="en-US" dirty="0"/>
              <a:t>, going up to ~9–10 lakh.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9DB978-763B-31AA-A2F9-A067BC285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325" y="424544"/>
            <a:ext cx="8229600" cy="3864427"/>
          </a:xfrm>
        </p:spPr>
      </p:pic>
    </p:spTree>
    <p:extLst>
      <p:ext uri="{BB962C8B-B14F-4D97-AF65-F5344CB8AC3E}">
        <p14:creationId xmlns:p14="http://schemas.microsoft.com/office/powerpoint/2010/main" val="409075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67ABEA-5C78-1E9C-D297-522499A93580}"/>
              </a:ext>
            </a:extLst>
          </p:cNvPr>
          <p:cNvSpPr txBox="1"/>
          <p:nvPr/>
        </p:nvSpPr>
        <p:spPr>
          <a:xfrm>
            <a:off x="631371" y="4976071"/>
            <a:ext cx="79030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Insights:</a:t>
            </a:r>
            <a:endParaRPr lang="en-IN" dirty="0"/>
          </a:p>
          <a:p>
            <a:pPr algn="just"/>
            <a:r>
              <a:rPr lang="en-US" b="1" dirty="0"/>
              <a:t>Interviews Distribution: </a:t>
            </a:r>
            <a:r>
              <a:rPr lang="en-US" dirty="0"/>
              <a:t>The distribution is the </a:t>
            </a:r>
            <a:r>
              <a:rPr lang="en-US" b="1" dirty="0"/>
              <a:t>right-skewed </a:t>
            </a:r>
            <a:r>
              <a:rPr lang="en-US" dirty="0"/>
              <a:t>with more companies are taking the interviews between 1000-1500.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Presence of the </a:t>
            </a:r>
            <a:r>
              <a:rPr lang="en-US" b="1" dirty="0"/>
              <a:t>outliers</a:t>
            </a:r>
            <a:r>
              <a:rPr lang="en-US" dirty="0"/>
              <a:t> are there as there are many few companies which are taking the highest number of interviews.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E69341-B40C-7B2A-C7E2-1A99F68A8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115" y="314944"/>
            <a:ext cx="6880255" cy="4661127"/>
          </a:xfrm>
        </p:spPr>
      </p:pic>
    </p:spTree>
    <p:extLst>
      <p:ext uri="{BB962C8B-B14F-4D97-AF65-F5344CB8AC3E}">
        <p14:creationId xmlns:p14="http://schemas.microsoft.com/office/powerpoint/2010/main" val="33919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EA9408-95C7-38BF-7224-2530F5032D4F}"/>
              </a:ext>
            </a:extLst>
          </p:cNvPr>
          <p:cNvSpPr txBox="1"/>
          <p:nvPr/>
        </p:nvSpPr>
        <p:spPr>
          <a:xfrm>
            <a:off x="432810" y="4669971"/>
            <a:ext cx="8982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Insights: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most preferred locations having companies are </a:t>
            </a:r>
            <a:r>
              <a:rPr lang="en-US" b="1" dirty="0"/>
              <a:t>Bangalore, Mumbai.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Smaller cities are having fewer companies compared to top-most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least preferred locations are Nagpur, Lucknow, Patna and others.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D8943-7590-87AD-0864-A9CC56717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10" y="197326"/>
            <a:ext cx="8278380" cy="447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9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72" y="0"/>
            <a:ext cx="8229600" cy="728283"/>
          </a:xfrm>
        </p:spPr>
        <p:txBody>
          <a:bodyPr>
            <a:normAutofit fontScale="90000"/>
          </a:bodyPr>
          <a:lstStyle/>
          <a:p>
            <a:r>
              <a:rPr dirty="0"/>
              <a:t>Bivariate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056A7-411D-0A1A-CB65-BDE67BE5DD83}"/>
              </a:ext>
            </a:extLst>
          </p:cNvPr>
          <p:cNvSpPr txBox="1"/>
          <p:nvPr/>
        </p:nvSpPr>
        <p:spPr>
          <a:xfrm>
            <a:off x="384372" y="4788003"/>
            <a:ext cx="8313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Insights: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Accenture’s </a:t>
            </a:r>
            <a:r>
              <a:rPr lang="en-US" dirty="0"/>
              <a:t>40,000 jobs are far higher than the next highest values (all below 5,000), making it a clear statistical and visual outlier in the dataset.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Some companies are maintaining the same level of providing job accuracies.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56AF5A-88F1-CD73-B34A-4F3405686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315" y="728284"/>
            <a:ext cx="7117369" cy="419206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983580-7CFC-F3B9-E3F9-DF46D51CDF87}"/>
              </a:ext>
            </a:extLst>
          </p:cNvPr>
          <p:cNvSpPr txBox="1"/>
          <p:nvPr/>
        </p:nvSpPr>
        <p:spPr>
          <a:xfrm>
            <a:off x="413657" y="4820644"/>
            <a:ext cx="83166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Insights:</a:t>
            </a:r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very high rated companies are giving highest salaries to the lowest number of people.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Very high rating are given to only some of the salary levels indicating there is no correlation between the higher salaries and employee's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DF57C-9BF4-2E68-CDE4-9E9B9C962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030"/>
            <a:ext cx="9144000" cy="465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05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6DC91EFC-4797-93D8-F744-5FAD60B791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442" y="4101266"/>
            <a:ext cx="837111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Insights: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Only </a:t>
            </a:r>
            <a:r>
              <a:rPr lang="en-US" sz="2000" b="1" dirty="0"/>
              <a:t>Pharma</a:t>
            </a:r>
            <a:r>
              <a:rPr lang="en-US" sz="2000" dirty="0"/>
              <a:t> has a visible outlier below the box (~3.3) This means most pharma companies have high ratings, but one company is rated significantly lower than the rest.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Pharma companies have the </a:t>
            </a:r>
            <a:r>
              <a:rPr lang="en-US" sz="2000" b="1" dirty="0"/>
              <a:t>highest median rating</a:t>
            </a:r>
            <a:r>
              <a:rPr lang="en-US" sz="2000" dirty="0"/>
              <a:t>, indicating better employee satisfaction (on average), while IT services have a slightly lower median rating.</a:t>
            </a:r>
            <a:endParaRPr lang="en-US" sz="2000" b="1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9B390E-F9EA-D157-309A-420BDA180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42" y="0"/>
            <a:ext cx="7163800" cy="410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74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D660E1-2594-08A1-298D-7117C26F5CCE}"/>
              </a:ext>
            </a:extLst>
          </p:cNvPr>
          <p:cNvSpPr txBox="1"/>
          <p:nvPr/>
        </p:nvSpPr>
        <p:spPr>
          <a:xfrm>
            <a:off x="609601" y="4374506"/>
            <a:ext cx="8327572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Insights: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Highest interviews doesn't guarantee better ratings.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Most of the top-rated companies only having interviews less than 1000.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Companies with very few interview experiences may still have high ratings.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5C1C09-8A6C-9AA7-0140-272CBFF54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374" y="217715"/>
            <a:ext cx="5969251" cy="3603172"/>
          </a:xfrm>
        </p:spPr>
      </p:pic>
    </p:spTree>
    <p:extLst>
      <p:ext uri="{BB962C8B-B14F-4D97-AF65-F5344CB8AC3E}">
        <p14:creationId xmlns:p14="http://schemas.microsoft.com/office/powerpoint/2010/main" val="3010635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B23C63-B7EF-AB2F-E232-9010D11C3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970" y="1417639"/>
            <a:ext cx="6607629" cy="4255546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7BCF34-F425-BEC5-F8BE-0EC7DA69B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272143"/>
            <a:ext cx="8621485" cy="6227082"/>
          </a:xfrm>
        </p:spPr>
        <p:txBody>
          <a:bodyPr>
            <a:normAutofit fontScale="97500"/>
          </a:bodyPr>
          <a:lstStyle/>
          <a:p>
            <a:pPr algn="just"/>
            <a:r>
              <a:rPr lang="en-US" sz="2100" dirty="0"/>
              <a:t>Correlation </a:t>
            </a:r>
            <a:r>
              <a:rPr lang="en-US" sz="2100" b="1" dirty="0"/>
              <a:t>tells us how two variables are related</a:t>
            </a:r>
            <a:r>
              <a:rPr lang="en-US" sz="2100" dirty="0"/>
              <a:t> to each other showing</a:t>
            </a:r>
            <a:r>
              <a:rPr lang="en-US" sz="2100" b="1" dirty="0"/>
              <a:t> direction and the strength of the relationship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17946B-7EEB-15C0-ED31-0408BEB07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86" y="1287674"/>
            <a:ext cx="8011885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Salaries ↔ Interviews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Moderate positive correlation — companies with higher salaries generally conduct more interviews.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Salaries ↔ Jobs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Weak correlation — salary does not strongly depend on the number of job openings.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 ↔ Salaries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Moderate correlation — companies offering higher benefits also tend to have higher salaries.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Jobs ↔ Interviews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Moderate correlation — more job openings generally lead to more interviews.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↔ Other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Weak correlations — ratings are only slightly affected by other numeric metrics.</a:t>
            </a:r>
          </a:p>
        </p:txBody>
      </p:sp>
    </p:spTree>
    <p:extLst>
      <p:ext uri="{BB962C8B-B14F-4D97-AF65-F5344CB8AC3E}">
        <p14:creationId xmlns:p14="http://schemas.microsoft.com/office/powerpoint/2010/main" val="1583403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146989-F1FA-C460-8A07-7ED72D990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971" y="929163"/>
            <a:ext cx="8229600" cy="4999673"/>
          </a:xfrm>
        </p:spPr>
      </p:pic>
    </p:spTree>
    <p:extLst>
      <p:ext uri="{BB962C8B-B14F-4D97-AF65-F5344CB8AC3E}">
        <p14:creationId xmlns:p14="http://schemas.microsoft.com/office/powerpoint/2010/main" val="1198376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143" y="1417638"/>
            <a:ext cx="8229600" cy="4525963"/>
          </a:xfrm>
        </p:spPr>
        <p:txBody>
          <a:bodyPr wrap="square"/>
          <a:lstStyle/>
          <a:p>
            <a:endParaRPr dirty="0"/>
          </a:p>
          <a:p>
            <a:pPr marL="0" indent="0" algn="l">
              <a:lnSpc>
                <a:spcPct val="150000"/>
              </a:lnSpc>
              <a:buNone/>
              <a:defRPr sz="1800"/>
            </a:pPr>
            <a:r>
              <a:rPr dirty="0"/>
              <a:t>• Handling outliers without losing key data patterns.</a:t>
            </a:r>
            <a:br>
              <a:rPr dirty="0"/>
            </a:br>
            <a:r>
              <a:rPr dirty="0"/>
              <a:t>• Interpreting multiple feature relationships effectively.</a:t>
            </a:r>
            <a:br>
              <a:rPr dirty="0"/>
            </a:br>
            <a:r>
              <a:rPr dirty="0"/>
              <a:t>• Choosing meaningful visualizations to highlight insights clearly.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B47C-EE71-7A52-6FD8-3D54840C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3933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73D54-436E-9269-5940-556673B71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2743"/>
            <a:ext cx="8229600" cy="50400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Company Distribution &amp; Location: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Most companies are concentrated in Bangalore, Hyderabad, and Mumbai.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IT Services &amp; Consulting is the dominant industry, followed by Banking, BPO, Telecom, and Retail.</a:t>
            </a:r>
          </a:p>
          <a:p>
            <a:pPr marL="0" indent="0">
              <a:buNone/>
            </a:pPr>
            <a:r>
              <a:rPr lang="en-US" b="1" dirty="0"/>
              <a:t>Salaries: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Salary distribution is positively skewed: most companies offer low-to-mid range salaries, and only a few offer very high salaries.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IT and Banking sectors tend to offer slightly higher salaries.</a:t>
            </a:r>
          </a:p>
          <a:p>
            <a:pPr marL="0" indent="0">
              <a:buNone/>
            </a:pPr>
            <a:r>
              <a:rPr lang="en-US" dirty="0"/>
              <a:t>J</a:t>
            </a:r>
            <a:r>
              <a:rPr lang="en-US" b="1" dirty="0"/>
              <a:t>ob Openings &amp; Interviews: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IT companies have the highest number of job openings and interview reviews.</a:t>
            </a:r>
          </a:p>
          <a:p>
            <a:pPr marL="0" indent="0">
              <a:buNone/>
            </a:pPr>
            <a:r>
              <a:rPr lang="en-US" b="1" dirty="0"/>
              <a:t>Employee Ratings: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Average ratings are around 3.5–3.8, indicating generally moderate to good satisfaction.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Very few companies have ratings below 3.Benefits:Most companies are giving more benefits.</a:t>
            </a:r>
          </a:p>
        </p:txBody>
      </p:sp>
    </p:spTree>
    <p:extLst>
      <p:ext uri="{BB962C8B-B14F-4D97-AF65-F5344CB8AC3E}">
        <p14:creationId xmlns:p14="http://schemas.microsoft.com/office/powerpoint/2010/main" val="39778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 wrap="square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top companies based on jobs are Wipro, Accenture, TCS and others.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Most companies are in IT Services &amp; Consulting, concentrated in Bangalore, Hyderabad, and Mumbai.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Salaries are mostly low-to-mid range, with IT and Banking slightly higher.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Benefits are moderate, often better in IT, MNCs, Banking, and Telecom.</a:t>
            </a:r>
            <a:endParaRPr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2D95C6C-C578-4C37-A8AD-5571E8341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97105"/>
            <a:ext cx="9249196" cy="647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8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1234</Words>
  <Application>Microsoft Office PowerPoint</Application>
  <PresentationFormat>On-screen Show (4:3)</PresentationFormat>
  <Paragraphs>142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AGENDA </vt:lpstr>
      <vt:lpstr>Problem Statement</vt:lpstr>
      <vt:lpstr>Tools Used for EDA</vt:lpstr>
      <vt:lpstr>DATASET OVERVIEW</vt:lpstr>
      <vt:lpstr>DATA FRAME</vt:lpstr>
      <vt:lpstr>PowerPoint Presentation</vt:lpstr>
      <vt:lpstr>Data Cleaning &amp; Preprocessing</vt:lpstr>
      <vt:lpstr>CLEANED DATA FRAME</vt:lpstr>
      <vt:lpstr>PowerPoint Presentation</vt:lpstr>
      <vt:lpstr>DATA VISUALIZATIONS</vt:lpstr>
      <vt:lpstr>Univariate Analysis:-</vt:lpstr>
      <vt:lpstr>PowerPoint Presentation</vt:lpstr>
      <vt:lpstr>PowerPoint Presentation</vt:lpstr>
      <vt:lpstr>PowerPoint Presentation</vt:lpstr>
      <vt:lpstr>PowerPoint Presentation</vt:lpstr>
      <vt:lpstr>Bivariate Analysis</vt:lpstr>
      <vt:lpstr>PowerPoint Presentation</vt:lpstr>
      <vt:lpstr>PowerPoint Presentation</vt:lpstr>
      <vt:lpstr>PowerPoint Presentation</vt:lpstr>
      <vt:lpstr>Correlation Heatmap Analysis</vt:lpstr>
      <vt:lpstr>PowerPoint Presentation</vt:lpstr>
      <vt:lpstr>PowerPoint Presentation</vt:lpstr>
      <vt:lpstr>Challenges Faced</vt:lpstr>
      <vt:lpstr>Insights</vt:lpstr>
      <vt:lpstr>Summary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Prathyusha A</dc:creator>
  <cp:keywords/>
  <dc:description>generated using python-pptx</dc:description>
  <cp:lastModifiedBy>priya jetty</cp:lastModifiedBy>
  <cp:revision>6</cp:revision>
  <dcterms:created xsi:type="dcterms:W3CDTF">2013-01-27T09:14:16Z</dcterms:created>
  <dcterms:modified xsi:type="dcterms:W3CDTF">2025-12-04T08:21:21Z</dcterms:modified>
  <cp:category/>
</cp:coreProperties>
</file>